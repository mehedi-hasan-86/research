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4364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16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9725" y="182880"/>
            <a:ext cx="365760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206240" y="228600"/>
            <a:ext cx="3977639" cy="278892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770120" y="247891"/>
            <a:ext cx="320040" cy="320040"/>
          </a:xfrm>
          <a:prstGeom prst="ellipse">
            <a:avLst/>
          </a:prstGeom>
          <a:solidFill>
            <a:srgbClr val="477443"/>
          </a:solidFill>
          <a:ln>
            <a:solidFill>
              <a:srgbClr val="477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7740" y="2377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286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77443"/>
                </a:solidFill>
              </a:defRPr>
            </a:pPr>
            <a:r>
              <a:rPr dirty="0"/>
              <a:t>Class-Specific Synthetic Spectrum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28600"/>
            <a:ext cx="3794760" cy="2788920"/>
          </a:xfrm>
          <a:prstGeom prst="roundRect">
            <a:avLst/>
          </a:prstGeom>
          <a:solidFill>
            <a:srgbClr val="F5F1F9"/>
          </a:solidFill>
          <a:ln w="15240">
            <a:solidFill>
              <a:srgbClr val="654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80012" y="284988"/>
            <a:ext cx="320040" cy="320040"/>
          </a:xfrm>
          <a:prstGeom prst="ellipse">
            <a:avLst/>
          </a:prstGeom>
          <a:solidFill>
            <a:srgbClr val="654987"/>
          </a:solidFill>
          <a:ln>
            <a:solidFill>
              <a:srgbClr val="654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85093" y="27825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432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54987"/>
                </a:solidFill>
              </a:defRPr>
            </a:pPr>
            <a:r>
              <a:t>Spectral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182112"/>
            <a:ext cx="3794760" cy="3063240"/>
          </a:xfrm>
          <a:prstGeom prst="roundRect">
            <a:avLst/>
          </a:prstGeom>
          <a:solidFill>
            <a:srgbClr val="FDF8EB"/>
          </a:solidFill>
          <a:ln w="15240">
            <a:solidFill>
              <a:srgbClr val="B58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792" y="3227832"/>
            <a:ext cx="320040" cy="320040"/>
          </a:xfrm>
          <a:prstGeom prst="ellipse">
            <a:avLst/>
          </a:prstGeom>
          <a:solidFill>
            <a:srgbClr val="B5801E"/>
          </a:solidFill>
          <a:ln>
            <a:solidFill>
              <a:srgbClr val="B58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552" y="32067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27832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5801E"/>
                </a:solidFill>
              </a:defRPr>
            </a:pPr>
            <a:r>
              <a:t>PCA-Based Qubit Mapping and Angle Encoding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182112"/>
            <a:ext cx="3703320" cy="306324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C6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77790" y="3233964"/>
            <a:ext cx="320040" cy="320040"/>
          </a:xfrm>
          <a:prstGeom prst="ellipse">
            <a:avLst/>
          </a:prstGeom>
          <a:solidFill>
            <a:srgbClr val="3C6897"/>
          </a:solidFill>
          <a:ln>
            <a:solidFill>
              <a:srgbClr val="3C6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7790" y="323396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2278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3C6897"/>
                </a:solidFill>
              </a:defRPr>
            </a:pPr>
            <a:r>
              <a:t>Machine Learning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200647"/>
            <a:ext cx="4069080" cy="3063240"/>
          </a:xfrm>
          <a:prstGeom prst="roundRect">
            <a:avLst/>
          </a:prstGeom>
          <a:solidFill>
            <a:srgbClr val="FDF4EC"/>
          </a:solidFill>
          <a:ln w="15240">
            <a:solidFill>
              <a:srgbClr val="C8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/>
              <a:t>Iteration 1</a:t>
            </a:r>
            <a:endParaRPr lang="en-US" sz="700" dirty="0"/>
          </a:p>
        </p:txBody>
      </p:sp>
      <p:sp>
        <p:nvSpPr>
          <p:cNvPr id="23" name="Oval 22"/>
          <p:cNvSpPr/>
          <p:nvPr/>
        </p:nvSpPr>
        <p:spPr>
          <a:xfrm>
            <a:off x="8709660" y="3227832"/>
            <a:ext cx="320040" cy="320040"/>
          </a:xfrm>
          <a:prstGeom prst="ellipse">
            <a:avLst/>
          </a:prstGeom>
          <a:solidFill>
            <a:srgbClr val="C85B12"/>
          </a:solidFill>
          <a:ln>
            <a:solidFill>
              <a:srgbClr val="C8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09660" y="320966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3227832"/>
            <a:ext cx="3566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C85B12"/>
                </a:solidFill>
              </a:defRPr>
            </a:pPr>
            <a:r>
              <a:rPr dirty="0"/>
              <a:t>Model Training and Performance Evaluation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77840" y="731520"/>
            <a:ext cx="1417320" cy="123444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AAB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5655564" y="817880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rPr dirty="0"/>
              <a:t>Synthetic Generation</a:t>
            </a:r>
            <a:br>
              <a:rPr dirty="0"/>
            </a:br>
            <a:r>
              <a:rPr dirty="0"/>
              <a:t>(in log-domain)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687568" y="1095889"/>
                <a:ext cx="1188720" cy="78002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150000"/>
                  </a:lnSpc>
                  <a:defRPr sz="650" b="0">
                    <a:solidFill>
                      <a:srgbClr val="64646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𝑠𝑦𝑛</m:t>
                            </m:r>
                          </m:e>
                        </m:d>
                      </m:sub>
                    </m:sSub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600" b="0" i="1" dirty="0">
                    <a:latin typeface="Bookman Old Style" panose="02050604050505020204" pitchFamily="18" charset="0"/>
                  </a:rPr>
                  <a:t> 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650" b="0">
                    <a:solidFill>
                      <a:srgbClr val="646464"/>
                    </a:solidFill>
                  </a:defRPr>
                </a:pPr>
                <a:r>
                  <a:rPr lang="en-US" sz="600" b="0" i="1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600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sSubSup>
                          <m:sSubSupPr>
                            <m:ctrlP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  <m:sup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600" b="0" i="1" dirty="0">
                  <a:latin typeface="Bookman Old Style" panose="0205060405050502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650" b="0">
                    <a:solidFill>
                      <a:srgbClr val="646464"/>
                    </a:solidFill>
                  </a:defRPr>
                </a:pPr>
                <a:r>
                  <a:rPr lang="en-US" sz="600" b="0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6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b>
                          <m:sup>
                            <m:r>
                              <a:rPr lang="en-US" sz="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600" b="0" dirty="0">
                  <a:latin typeface="Bookman Old Style" panose="0205060405050502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650" b="0">
                    <a:solidFill>
                      <a:srgbClr val="646464"/>
                    </a:solidFill>
                  </a:defRPr>
                </a:pPr>
                <a:r>
                  <a:rPr lang="pt-BR" sz="600" dirty="0">
                    <a:latin typeface="Bookman Old Style" panose="02050604050505020204" pitchFamily="18" charset="0"/>
                  </a:rPr>
                  <a:t>Feature-wise diagonal noise model</a:t>
                </a:r>
                <a:endParaRPr sz="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568" y="1095889"/>
                <a:ext cx="1188720" cy="780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ounded Rectangle 64"/>
          <p:cNvSpPr/>
          <p:nvPr/>
        </p:nvSpPr>
        <p:spPr>
          <a:xfrm>
            <a:off x="4389120" y="2011680"/>
            <a:ext cx="3566160" cy="47548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80560" y="2001977"/>
            <a:ext cx="3383280" cy="4308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46464"/>
                </a:solidFill>
              </a:defRPr>
            </a:pPr>
            <a:r>
              <a:rPr sz="800" b="1" dirty="0">
                <a:latin typeface="Bookman Old Style" panose="02050604050505020204" pitchFamily="18" charset="0"/>
              </a:rPr>
              <a:t>Inverse transform to intensity domain</a:t>
            </a:r>
            <a:br>
              <a:rPr dirty="0">
                <a:latin typeface="Bookman Old Style" panose="02050604050505020204" pitchFamily="18" charset="0"/>
              </a:rPr>
            </a:br>
            <a:r>
              <a:rPr dirty="0">
                <a:latin typeface="Bookman Old Style" panose="02050604050505020204" pitchFamily="18" charset="0"/>
              </a:rPr>
              <a:t>Xₛᵧₙ = exp(Sₛᵧₙ) − 1</a:t>
            </a:r>
            <a:br>
              <a:rPr dirty="0">
                <a:latin typeface="Bookman Old Style" panose="02050604050505020204" pitchFamily="18" charset="0"/>
              </a:rPr>
            </a:br>
            <a:r>
              <a:rPr dirty="0">
                <a:latin typeface="Bookman Old Style" panose="02050604050505020204" pitchFamily="18" charset="0"/>
              </a:rPr>
              <a:t>• Clip negative values    • Remove non-finite samples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89120" y="2578608"/>
            <a:ext cx="3566160" cy="32004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80560" y="2566452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646464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Augmented Training Set</a:t>
            </a:r>
            <a:br>
              <a:rPr dirty="0">
                <a:latin typeface="Bookman Old Style" panose="02050604050505020204" pitchFamily="18" charset="0"/>
              </a:rPr>
            </a:br>
            <a:r>
              <a:rPr dirty="0">
                <a:latin typeface="Bookman Old Style" panose="02050604050505020204" pitchFamily="18" charset="0"/>
              </a:rPr>
              <a:t>(Real + 1,000 synthetic spectra per class)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64008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646464"/>
                </a:solidFill>
              </a:defRPr>
            </a:pPr>
            <a:r>
              <a:t>Log Transformation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68512" y="804672"/>
            <a:ext cx="1417320" cy="320040"/>
          </a:xfrm>
          <a:prstGeom prst="roundRect">
            <a:avLst/>
          </a:prstGeom>
          <a:solidFill>
            <a:srgbClr val="F8F5FB"/>
          </a:solidFill>
          <a:ln w="12700">
            <a:solidFill>
              <a:srgbClr val="B4A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686800" y="847333"/>
                <a:ext cx="1371600" cy="2255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800" b="0">
                    <a:solidFill>
                      <a:srgbClr val="646464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847333"/>
                <a:ext cx="1371600" cy="225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0561320" y="640080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646464"/>
                </a:solidFill>
              </a:defRPr>
            </a:pPr>
            <a:r>
              <a:t>Gradient Enhancement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515600" y="804672"/>
            <a:ext cx="1554480" cy="320040"/>
          </a:xfrm>
          <a:prstGeom prst="roundRect">
            <a:avLst/>
          </a:prstGeom>
          <a:solidFill>
            <a:srgbClr val="F8F5FB"/>
          </a:solidFill>
          <a:ln w="12700">
            <a:solidFill>
              <a:srgbClr val="B4A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0561320" y="852045"/>
                <a:ext cx="1463040" cy="21614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750" b="0">
                    <a:solidFill>
                      <a:srgbClr val="646464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𝑒𝑛ℎ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1320" y="852045"/>
                <a:ext cx="1463040" cy="216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8686800" y="2148840"/>
            <a:ext cx="3438813" cy="685800"/>
          </a:xfrm>
          <a:prstGeom prst="roundRect">
            <a:avLst/>
          </a:prstGeom>
          <a:solidFill>
            <a:srgbClr val="F8F5FB"/>
          </a:solidFill>
          <a:ln w="12700">
            <a:solidFill>
              <a:srgbClr val="B4A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8823960" y="2153935"/>
                <a:ext cx="3291840" cy="62074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700" b="0">
                    <a:solidFill>
                      <a:srgbClr val="646464"/>
                    </a:solidFill>
                  </a:defRPr>
                </a:pPr>
                <a:r>
                  <a:rPr lang="en-US" dirty="0"/>
                  <a:t>Standardization (Z-score)</a:t>
                </a:r>
              </a:p>
              <a:p>
                <a:pPr algn="ctr">
                  <a:defRPr sz="700" b="0">
                    <a:solidFill>
                      <a:srgbClr val="646464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𝑒𝑛ℎ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• </a:t>
                </a:r>
                <a:r>
                  <a:rPr lang="el-GR" dirty="0"/>
                  <a:t>μ, σ </a:t>
                </a:r>
                <a:r>
                  <a:rPr lang="en-US" dirty="0"/>
                  <a:t>computed on training set    • Applied to training &amp; test sets</a:t>
                </a: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960" y="2153935"/>
                <a:ext cx="3291840" cy="620747"/>
              </a:xfrm>
              <a:prstGeom prst="rect">
                <a:avLst/>
              </a:prstGeom>
              <a:blipFill>
                <a:blip r:embed="rId5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502920" y="3584448"/>
            <a:ext cx="1874519" cy="1664208"/>
          </a:xfrm>
          <a:prstGeom prst="roundRect">
            <a:avLst/>
          </a:prstGeom>
          <a:solidFill>
            <a:srgbClr val="FFFCF4"/>
          </a:solidFill>
          <a:ln w="12700">
            <a:solidFill>
              <a:srgbClr val="E1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2" name="TextBox 101"/>
          <p:cNvSpPr txBox="1"/>
          <p:nvPr/>
        </p:nvSpPr>
        <p:spPr>
          <a:xfrm>
            <a:off x="621792" y="36576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t>PCA Dimensionality Reduction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658368" y="3799774"/>
                <a:ext cx="1554480" cy="116955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700" b="0">
                    <a:solidFill>
                      <a:srgbClr val="646464"/>
                    </a:solidFill>
                  </a:defRPr>
                </a:pPr>
                <a:r>
                  <a:rPr lang="en-US" dirty="0"/>
                  <a:t>Reduce 2030 features → 8 PCs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W = [v₁, v₂, ..., v₈]                        </a:t>
                </a:r>
                <a:br>
                  <a:rPr lang="en-US" dirty="0"/>
                </a:br>
                <a:endParaRPr lang="en-US" dirty="0"/>
              </a:p>
              <a:p>
                <a:pPr>
                  <a:defRPr sz="700" b="0">
                    <a:solidFill>
                      <a:srgbClr val="646464"/>
                    </a:solidFill>
                  </a:defRPr>
                </a:pPr>
                <a:r>
                  <a:rPr lang="en-US" sz="700" dirty="0">
                    <a:latin typeface="Bookman Old Style" panose="02050604050505020204" pitchFamily="18" charset="0"/>
                  </a:rPr>
                  <a:t>1. v₁, v₂, ..., v₈ : eigenvectors of training covariance matrix (top 8 eigenvalues)               </a:t>
                </a:r>
                <a:br>
                  <a:rPr lang="en-US" sz="600" dirty="0">
                    <a:latin typeface="Bookman Old Style" panose="02050604050505020204" pitchFamily="18" charset="0"/>
                  </a:rPr>
                </a:br>
                <a:r>
                  <a:rPr lang="en-US" sz="600" dirty="0">
                    <a:latin typeface="Bookman Old Style" panose="02050604050505020204" pitchFamily="18" charset="0"/>
                  </a:rPr>
                  <a:t>2. </a:t>
                </a:r>
                <a:r>
                  <a:rPr lang="en-US" sz="700" dirty="0" err="1">
                    <a:latin typeface="Bookman Old Style" panose="02050604050505020204" pitchFamily="18" charset="0"/>
                  </a:rPr>
                  <a:t>PCA</a:t>
                </a:r>
                <a:r>
                  <a:rPr lang="en-US" sz="700" dirty="0">
                    <a:latin typeface="Bookman Old Style" panose="02050604050505020204" pitchFamily="18" charset="0"/>
                  </a:rPr>
                  <a:t> fitted on training set only         </a:t>
                </a:r>
                <a:br>
                  <a:rPr lang="en-US" sz="700" dirty="0">
                    <a:latin typeface="Bookman Old Style" panose="02050604050505020204" pitchFamily="18" charset="0"/>
                  </a:rPr>
                </a:br>
                <a:r>
                  <a:rPr lang="en-US" sz="700" dirty="0">
                    <a:latin typeface="Bookman Old Style" panose="02050604050505020204" pitchFamily="18" charset="0"/>
                  </a:rPr>
                  <a:t>3. Applied to test set</a:t>
                </a:r>
                <a:endParaRPr lang="en-US" sz="600" dirty="0"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799774"/>
                <a:ext cx="1554480" cy="1169551"/>
              </a:xfrm>
              <a:prstGeom prst="rect">
                <a:avLst/>
              </a:prstGeom>
              <a:blipFill>
                <a:blip r:embed="rId6"/>
                <a:stretch>
                  <a:fillRect r="-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ounded Rectangle 103"/>
          <p:cNvSpPr/>
          <p:nvPr/>
        </p:nvSpPr>
        <p:spPr>
          <a:xfrm>
            <a:off x="2514600" y="3584448"/>
            <a:ext cx="1325880" cy="1664208"/>
          </a:xfrm>
          <a:prstGeom prst="roundRect">
            <a:avLst/>
          </a:prstGeom>
          <a:solidFill>
            <a:srgbClr val="FFFCF4"/>
          </a:solidFill>
          <a:ln w="12700">
            <a:solidFill>
              <a:srgbClr val="E1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633472" y="3671872"/>
            <a:ext cx="10972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rPr sz="700" dirty="0"/>
              <a:t>Angle Encoding to [0, π]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/>
              <p:cNvSpPr txBox="1"/>
              <p:nvPr/>
            </p:nvSpPr>
            <p:spPr>
              <a:xfrm>
                <a:off x="2633472" y="3977639"/>
                <a:ext cx="1046987" cy="76206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700" b="0">
                    <a:solidFill>
                      <a:srgbClr val="646464"/>
                    </a:solidFill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e>
                              </m:d>
                            </m:sub>
                          </m:sSub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for </a:t>
                </a:r>
                <a:r>
                  <a:rPr lang="en-US" dirty="0" err="1"/>
                  <a:t>i</a:t>
                </a:r>
                <a:r>
                  <a:rPr lang="en-US" dirty="0"/>
                  <a:t> = 1,2,...,8</a:t>
                </a:r>
                <a:br>
                  <a:rPr lang="en-US" dirty="0"/>
                </a:br>
                <a:br>
                  <a:rPr lang="en-US" dirty="0"/>
                </a:br>
                <a:endParaRPr dirty="0"/>
              </a:p>
            </p:txBody>
          </p:sp>
        </mc:Choice>
        <mc:Fallback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472" y="3977639"/>
                <a:ext cx="1046987" cy="7620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ounded Rectangle 106"/>
          <p:cNvSpPr/>
          <p:nvPr/>
        </p:nvSpPr>
        <p:spPr>
          <a:xfrm>
            <a:off x="548640" y="5394960"/>
            <a:ext cx="3291840" cy="594360"/>
          </a:xfrm>
          <a:prstGeom prst="roundRect">
            <a:avLst/>
          </a:prstGeom>
          <a:solidFill>
            <a:srgbClr val="FFFAEE"/>
          </a:solidFill>
          <a:ln w="12700">
            <a:solidFill>
              <a:srgbClr val="E1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/>
              <p:cNvSpPr txBox="1"/>
              <p:nvPr/>
            </p:nvSpPr>
            <p:spPr>
              <a:xfrm>
                <a:off x="685800" y="5404516"/>
                <a:ext cx="3017520" cy="53867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800" b="0">
                    <a:solidFill>
                      <a:srgbClr val="646464"/>
                    </a:solidFill>
                  </a:defRPr>
                </a:pPr>
                <a:r>
                  <a:rPr lang="en-US" dirty="0"/>
                  <a:t>Quantum-Inspired Feature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sub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b>
                            </m:sSub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  , zᵢ ∈ [0, </a:t>
                </a:r>
                <a:r>
                  <a:rPr lang="el-GR" dirty="0"/>
                  <a:t>π]⁸</a:t>
                </a:r>
                <a:br>
                  <a:rPr lang="el-GR" dirty="0"/>
                </a:br>
                <a:r>
                  <a:rPr lang="el-GR" dirty="0"/>
                  <a:t>(8-</a:t>
                </a:r>
                <a:r>
                  <a:rPr lang="en-US" dirty="0"/>
                  <a:t>dimensional qubit-ready representation)</a:t>
                </a:r>
                <a:endParaRPr dirty="0"/>
              </a:p>
            </p:txBody>
          </p:sp>
        </mc:Choice>
        <mc:Fallback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404516"/>
                <a:ext cx="3017520" cy="538674"/>
              </a:xfrm>
              <a:prstGeom prst="rect">
                <a:avLst/>
              </a:prstGeom>
              <a:blipFill>
                <a:blip r:embed="rId8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/>
          <p:cNvSpPr txBox="1"/>
          <p:nvPr/>
        </p:nvSpPr>
        <p:spPr>
          <a:xfrm>
            <a:off x="4480560" y="3584448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t>Baseline Models (7)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80560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0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DT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919472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919472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SVM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358384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358384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KNN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797296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797296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LR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36208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36208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RF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675120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675120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AB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114032" y="3822191"/>
            <a:ext cx="365760" cy="502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114032" y="38862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325578"/>
                </a:solidFill>
              </a:defRPr>
            </a:pPr>
            <a:r>
              <a:t>CB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80560" y="4363694"/>
            <a:ext cx="329184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Ensemble Models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526280" y="4617720"/>
            <a:ext cx="1600200" cy="12344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A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17720" y="4623852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646464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Soft Voting Ensemble</a:t>
            </a:r>
            <a:br>
              <a:rPr dirty="0">
                <a:solidFill>
                  <a:schemeClr val="accent1"/>
                </a:solidFill>
              </a:rPr>
            </a:br>
            <a:r>
              <a:rPr dirty="0">
                <a:solidFill>
                  <a:schemeClr val="accent1"/>
                </a:solidFill>
              </a:rPr>
              <a:t>(Base: RF, KNN, CB)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/>
              <p:cNvSpPr txBox="1"/>
              <p:nvPr/>
            </p:nvSpPr>
            <p:spPr>
              <a:xfrm>
                <a:off x="4663440" y="5007285"/>
                <a:ext cx="1325880" cy="59247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650" b="0">
                    <a:solidFill>
                      <a:srgbClr val="646464"/>
                    </a:solidFill>
                  </a:defRPr>
                </a:pPr>
                <a:r>
                  <a:rPr lang="cy-GB" dirty="0"/>
                  <a:t>RF     KNN     CB</a:t>
                </a:r>
                <a:br>
                  <a:rPr lang="cy-GB" dirty="0"/>
                </a:br>
                <a:r>
                  <a:rPr lang="cy-GB" dirty="0"/>
                  <a:t> ↓       ↓       ↓</a:t>
                </a:r>
                <a:br>
                  <a:rPr lang="cy-GB" dirty="0"/>
                </a:br>
                <a:r>
                  <a:rPr lang="cy-GB" dirty="0"/>
                  <a:t>Average Probability</a:t>
                </a:r>
                <a:br>
                  <a:rPr lang="cy-GB" dirty="0"/>
                </a:br>
                <a:r>
                  <a:rPr lang="cy-GB" dirty="0"/>
                  <a:t> ↓</a:t>
                </a:r>
                <a:br>
                  <a:rPr lang="cy-GB" dirty="0"/>
                </a:br>
                <a:r>
                  <a:rPr lang="cy-GB" dirty="0"/>
                  <a:t>ŷ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cy-GB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cy-GB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e>
                    </m:func>
                  </m:oMath>
                </a14:m>
                <a:endParaRPr dirty="0"/>
              </a:p>
            </p:txBody>
          </p:sp>
        </mc:Choice>
        <mc:Fallback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5007285"/>
                <a:ext cx="1325880" cy="592470"/>
              </a:xfrm>
              <a:prstGeom prst="rect">
                <a:avLst/>
              </a:prstGeom>
              <a:blipFill>
                <a:blip r:embed="rId9"/>
                <a:stretch>
                  <a:fillRect b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Rounded Rectangle 127"/>
          <p:cNvSpPr/>
          <p:nvPr/>
        </p:nvSpPr>
        <p:spPr>
          <a:xfrm>
            <a:off x="6236208" y="4617720"/>
            <a:ext cx="1554480" cy="12344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A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327648" y="4646712"/>
            <a:ext cx="1371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646464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Proposed Stacking Ensemble</a:t>
            </a:r>
            <a:br>
              <a:rPr dirty="0">
                <a:solidFill>
                  <a:schemeClr val="accent1"/>
                </a:solidFill>
              </a:rPr>
            </a:br>
            <a:r>
              <a:rPr dirty="0">
                <a:solidFill>
                  <a:schemeClr val="accent1"/>
                </a:solidFill>
              </a:rPr>
              <a:t>(Base: RF, KNN, CB)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/>
              <p:cNvSpPr txBox="1"/>
              <p:nvPr/>
            </p:nvSpPr>
            <p:spPr>
              <a:xfrm>
                <a:off x="6295644" y="4998004"/>
                <a:ext cx="1371600" cy="6740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630" b="0">
                    <a:solidFill>
                      <a:srgbClr val="646464"/>
                    </a:solidFill>
                  </a:defRPr>
                </a:pPr>
                <a:r>
                  <a:rPr lang="en-US" dirty="0"/>
                  <a:t>  RF      KNN      CB</a:t>
                </a:r>
              </a:p>
              <a:p>
                <a:pPr algn="ctr">
                  <a:defRPr sz="630" b="0">
                    <a:solidFill>
                      <a:srgbClr val="646464"/>
                    </a:solidFill>
                  </a:defRPr>
                </a:pPr>
                <a:r>
                  <a:rPr lang="en-US" dirty="0"/>
                  <a:t>↓       ↓       ↓</a:t>
                </a:r>
              </a:p>
              <a:p>
                <a:pPr algn="ctr">
                  <a:defRPr sz="630" b="0">
                    <a:solidFill>
                      <a:srgbClr val="646464"/>
                    </a:solidFill>
                  </a:defRPr>
                </a:pPr>
                <a:r>
                  <a:rPr lang="en-US" dirty="0"/>
                  <a:t>Metal-features</a:t>
                </a:r>
              </a:p>
              <a:p>
                <a:pPr algn="ctr">
                  <a:defRPr sz="630" b="0">
                    <a:solidFill>
                      <a:srgbClr val="646464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𝐾𝑁𝑁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𝐶𝐵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dirty="0"/>
                </a:br>
                <a:r>
                  <a:rPr lang="en-US" dirty="0"/>
                  <a:t>        ↓</a:t>
                </a:r>
                <a:br>
                  <a:rPr lang="en-US" dirty="0"/>
                </a:br>
                <a:r>
                  <a:rPr lang="en-US" dirty="0"/>
                  <a:t>Logistic Regression </a:t>
                </a:r>
                <a:endParaRPr dirty="0"/>
              </a:p>
            </p:txBody>
          </p:sp>
        </mc:Choice>
        <mc:Fallback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644" y="4998004"/>
                <a:ext cx="1371600" cy="6740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/>
          <p:cNvSpPr txBox="1"/>
          <p:nvPr/>
        </p:nvSpPr>
        <p:spPr>
          <a:xfrm>
            <a:off x="8733762" y="36576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</a:defRPr>
            </a:pPr>
            <a:r>
              <a:t>Stratified 5-Fold Cross-Validation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733762" y="3977639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747477" y="3959475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rPr dirty="0"/>
              <a:t>Fold 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63530" y="3977639"/>
            <a:ext cx="393192" cy="246888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163530" y="3977639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1">
                <a:solidFill>
                  <a:srgbClr val="646464"/>
                </a:solidFill>
              </a:defRPr>
            </a:pPr>
            <a:r>
              <a:t>Fold 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593297" y="3977639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593297" y="3977639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23066" y="3977639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023066" y="3977639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452833" y="3977639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452833" y="3977639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rPr dirty="0"/>
              <a:t>Fold 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733762" y="4288536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733762" y="4288536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163530" y="4288536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163530" y="4288536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93297" y="4288536"/>
            <a:ext cx="393192" cy="246888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593297" y="4288536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1">
                <a:solidFill>
                  <a:srgbClr val="646464"/>
                </a:solidFill>
              </a:defRPr>
            </a:pPr>
            <a:r>
              <a:t>Fold 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23066" y="4288536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0023066" y="4288536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452833" y="4288536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452833" y="4288536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733762" y="4599431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8733762" y="4599431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63530" y="4599431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9163530" y="4599431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593297" y="4599431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593297" y="4599431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023066" y="4599431"/>
            <a:ext cx="393192" cy="246888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23066" y="4599431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1">
                <a:solidFill>
                  <a:srgbClr val="646464"/>
                </a:solidFill>
              </a:defRPr>
            </a:pPr>
            <a:r>
              <a:t>Fold 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452833" y="4599431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452833" y="4599431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5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733762" y="4910327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733762" y="4910327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163530" y="4910327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163530" y="4910327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593297" y="4910327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593297" y="4910327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3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023066" y="4910327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023066" y="4910327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452833" y="4910327"/>
            <a:ext cx="393192" cy="246888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0452833" y="4910327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1">
                <a:solidFill>
                  <a:srgbClr val="646464"/>
                </a:solidFill>
              </a:defRPr>
            </a:pPr>
            <a:r>
              <a:t>Fold 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733762" y="5221224"/>
            <a:ext cx="393192" cy="246888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8709660" y="5221224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1">
                <a:solidFill>
                  <a:srgbClr val="646464"/>
                </a:solidFill>
              </a:defRPr>
            </a:pPr>
            <a:r>
              <a:rPr dirty="0"/>
              <a:t>Fold 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163530" y="5221224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9163530" y="5221224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593297" y="5221224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593297" y="5221224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023066" y="5221224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0023066" y="5221224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452833" y="5221224"/>
            <a:ext cx="393192" cy="246888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452833" y="5221224"/>
            <a:ext cx="3931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Fold 5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1064240" y="3662171"/>
            <a:ext cx="960120" cy="1874519"/>
          </a:xfrm>
          <a:prstGeom prst="roundRect">
            <a:avLst/>
          </a:prstGeom>
          <a:solidFill>
            <a:srgbClr val="FFF9F2"/>
          </a:solidFill>
          <a:ln w="12700">
            <a:solidFill>
              <a:srgbClr val="E1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110996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C85B12"/>
                </a:solidFill>
              </a:defRPr>
            </a:pPr>
            <a:r>
              <a:t>Performance Metrics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55680" y="4160520"/>
            <a:ext cx="685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646464"/>
                </a:solidFill>
              </a:defRPr>
            </a:pPr>
            <a:r>
              <a:t>◎  Accuracy</a:t>
            </a:r>
            <a:br/>
            <a:br/>
            <a:r>
              <a:t>↗  Precision</a:t>
            </a:r>
            <a:br/>
            <a:br/>
            <a:r>
              <a:t>◯  Recall</a:t>
            </a:r>
            <a:br/>
            <a:br/>
            <a:r>
              <a:t>▥  F1-score</a:t>
            </a:r>
            <a:br/>
            <a:br/>
            <a:r>
              <a:t>╲  ROC-AUC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58200" y="5550240"/>
            <a:ext cx="2331720" cy="192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646464"/>
                </a:solidFill>
              </a:defRPr>
            </a:pPr>
            <a:r>
              <a:rPr dirty="0"/>
              <a:t> Training (80%)     </a:t>
            </a:r>
            <a:r>
              <a:rPr lang="en-US" dirty="0"/>
              <a:t>           </a:t>
            </a:r>
            <a:r>
              <a:rPr dirty="0"/>
              <a:t> Testing (20%)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321040" y="5806440"/>
            <a:ext cx="3657600" cy="292608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E1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8412480" y="582472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C85B12"/>
                </a:solidFill>
              </a:defRPr>
            </a:pPr>
            <a:r>
              <a:t>Results Reported as Mean ± Std Across 5 Folds</a:t>
            </a:r>
            <a:br/>
            <a:r>
              <a:t>(Comprehensive and Unbiased Evaluation)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74320" y="6400800"/>
            <a:ext cx="11978640" cy="347472"/>
          </a:xfrm>
          <a:prstGeom prst="roundRect">
            <a:avLst/>
          </a:prstGeom>
          <a:solidFill>
            <a:srgbClr val="F6F6F6"/>
          </a:solidFill>
          <a:ln w="889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457200" y="6428232"/>
            <a:ext cx="52120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550" b="1">
                <a:solidFill>
                  <a:srgbClr val="646464"/>
                </a:solidFill>
              </a:defRPr>
            </a:pPr>
            <a:r>
              <a:rPr dirty="0"/>
              <a:t>Abbreviations:   DT: Decision Tree     </a:t>
            </a:r>
            <a:r>
              <a:rPr dirty="0" err="1"/>
              <a:t>SVM</a:t>
            </a:r>
            <a:r>
              <a:rPr dirty="0"/>
              <a:t>: Support Vector Machine     KNN: K-Nearest Neighbors     LR: Logistic Regression</a:t>
            </a:r>
            <a:br>
              <a:rPr dirty="0"/>
            </a:br>
            <a:r>
              <a:rPr dirty="0"/>
              <a:t>RF: Random Forest     AB: AdaBoost     CB: </a:t>
            </a:r>
            <a:r>
              <a:rPr dirty="0" err="1"/>
              <a:t>CatBoost</a:t>
            </a:r>
            <a:endParaRPr dirty="0"/>
          </a:p>
        </p:txBody>
      </p:sp>
      <p:sp>
        <p:nvSpPr>
          <p:cNvPr id="200" name="TextBox 199"/>
          <p:cNvSpPr txBox="1"/>
          <p:nvPr/>
        </p:nvSpPr>
        <p:spPr>
          <a:xfrm>
            <a:off x="6537960" y="6437376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" b="0">
                <a:solidFill>
                  <a:srgbClr val="646464"/>
                </a:solidFill>
              </a:defRPr>
            </a:pPr>
            <a:r>
              <a:t>───►  Workflow Progression       ⋯⋯►  Data/Information Flow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555480" y="6455664"/>
            <a:ext cx="457200" cy="201168"/>
          </a:xfrm>
          <a:prstGeom prst="roundRect">
            <a:avLst/>
          </a:prstGeom>
          <a:solidFill>
            <a:srgbClr val="D2E1C3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9555480" y="646480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50" b="1">
                <a:solidFill>
                  <a:srgbClr val="646464"/>
                </a:solidFill>
              </a:defRPr>
            </a:pPr>
            <a:r>
              <a:t>Data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0104120" y="6455664"/>
            <a:ext cx="457200" cy="201168"/>
          </a:xfrm>
          <a:prstGeom prst="roundRect">
            <a:avLst/>
          </a:prstGeom>
          <a:solidFill>
            <a:srgbClr val="E1DAEE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104120" y="646480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50" b="1">
                <a:solidFill>
                  <a:srgbClr val="646464"/>
                </a:solidFill>
              </a:defRPr>
            </a:pPr>
            <a:r>
              <a:t>Process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744200" y="6455664"/>
            <a:ext cx="457200" cy="201168"/>
          </a:xfrm>
          <a:prstGeom prst="roundRect">
            <a:avLst/>
          </a:prstGeom>
          <a:solidFill>
            <a:srgbClr val="C8DAEB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0744200" y="646480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50" b="1">
                <a:solidFill>
                  <a:srgbClr val="646464"/>
                </a:solidFill>
              </a:defRPr>
            </a:pPr>
            <a:r>
              <a:t>Model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1384280" y="6455664"/>
            <a:ext cx="457200" cy="201168"/>
          </a:xfrm>
          <a:prstGeom prst="roundRect">
            <a:avLst/>
          </a:prstGeom>
          <a:solidFill>
            <a:srgbClr val="F5E1C8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11384280" y="646480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50" b="1">
                <a:solidFill>
                  <a:srgbClr val="646464"/>
                </a:solidFill>
              </a:defRPr>
            </a:pPr>
            <a:r>
              <a:t>Output</a:t>
            </a:r>
          </a:p>
        </p:txBody>
      </p:sp>
      <p:pic>
        <p:nvPicPr>
          <p:cNvPr id="218" name="Picture 217">
            <a:extLst>
              <a:ext uri="{FF2B5EF4-FFF2-40B4-BE49-F238E27FC236}">
                <a16:creationId xmlns:a16="http://schemas.microsoft.com/office/drawing/2014/main" id="{53891FD5-631B-92EF-7CA5-7EEDF4B1A0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4209" y="799308"/>
            <a:ext cx="2084831" cy="1209324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D9976706-8B9B-C503-54CF-E4F648E62A8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8153" t="17510" b="7119"/>
          <a:stretch>
            <a:fillRect/>
          </a:stretch>
        </p:blipFill>
        <p:spPr>
          <a:xfrm>
            <a:off x="135717" y="800100"/>
            <a:ext cx="1589701" cy="1645920"/>
          </a:xfrm>
          <a:prstGeom prst="rect">
            <a:avLst/>
          </a:prstGeom>
        </p:spPr>
      </p:pic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CD9B8439-B5BD-1CD4-04E4-BE6370F64E32}"/>
              </a:ext>
            </a:extLst>
          </p:cNvPr>
          <p:cNvSpPr/>
          <p:nvPr/>
        </p:nvSpPr>
        <p:spPr>
          <a:xfrm>
            <a:off x="1920240" y="2057400"/>
            <a:ext cx="1645920" cy="6583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600" dirty="0">
                <a:latin typeface="Bookman Old Style" panose="02050604050505020204" pitchFamily="18" charset="0"/>
              </a:rPr>
              <a:t>• 70 spectra</a:t>
            </a:r>
            <a:br>
              <a:rPr lang="en-US" sz="600" dirty="0">
                <a:latin typeface="Bookman Old Style" panose="02050604050505020204" pitchFamily="18" charset="0"/>
              </a:rPr>
            </a:br>
            <a:r>
              <a:rPr lang="en-US" sz="600" dirty="0">
                <a:latin typeface="Bookman Old Style" panose="02050604050505020204" pitchFamily="18" charset="0"/>
              </a:rPr>
              <a:t>• 14 glucose concentration classes</a:t>
            </a:r>
            <a:br>
              <a:rPr lang="en-US" sz="600" dirty="0">
                <a:latin typeface="Bookman Old Style" panose="02050604050505020204" pitchFamily="18" charset="0"/>
              </a:rPr>
            </a:br>
            <a:r>
              <a:rPr lang="en-US" sz="600" dirty="0">
                <a:latin typeface="Bookman Old Style" panose="02050604050505020204" pitchFamily="18" charset="0"/>
              </a:rPr>
              <a:t>• 5 spectra per class</a:t>
            </a:r>
            <a:br>
              <a:rPr lang="en-US" sz="600" dirty="0">
                <a:latin typeface="Bookman Old Style" panose="02050604050505020204" pitchFamily="18" charset="0"/>
              </a:rPr>
            </a:br>
            <a:r>
              <a:rPr lang="en-US" sz="600" dirty="0">
                <a:latin typeface="Bookman Old Style" panose="02050604050505020204" pitchFamily="18" charset="0"/>
              </a:rPr>
              <a:t>• 2030 intensity features per                                  </a:t>
            </a:r>
          </a:p>
          <a:p>
            <a:r>
              <a:rPr lang="en-US" sz="600" dirty="0">
                <a:latin typeface="Bookman Old Style" panose="02050604050505020204" pitchFamily="18" charset="0"/>
              </a:rPr>
              <a:t>spectrum  </a:t>
            </a:r>
          </a:p>
          <a:p>
            <a:endParaRPr lang="en-US" sz="600" dirty="0">
              <a:latin typeface="Bookman Old Style" panose="020506040505050202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99FC645-A192-CCE3-734C-F17695C197A1}"/>
              </a:ext>
            </a:extLst>
          </p:cNvPr>
          <p:cNvSpPr txBox="1"/>
          <p:nvPr/>
        </p:nvSpPr>
        <p:spPr>
          <a:xfrm>
            <a:off x="888126" y="274320"/>
            <a:ext cx="2785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Bookman Old Style" panose="02050604050505020204" pitchFamily="18" charset="0"/>
              </a:rPr>
              <a:t>Raman Spectral Acquisition</a:t>
            </a:r>
          </a:p>
          <a:p>
            <a:endParaRPr lang="en-US" sz="1400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606632" y="249414"/>
            <a:ext cx="320040" cy="320040"/>
          </a:xfrm>
          <a:prstGeom prst="ellipse">
            <a:avLst/>
          </a:prstGeom>
          <a:solidFill>
            <a:srgbClr val="325578"/>
          </a:solidFill>
          <a:ln>
            <a:solidFill>
              <a:srgbClr val="32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6632" y="24941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5727D6F9-96BC-7C30-F704-935C223AAF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5780" y="814707"/>
            <a:ext cx="1123188" cy="108724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BD42D4B9-C4A0-91CE-A7C4-BDFFED58EF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766572"/>
            <a:ext cx="1051560" cy="10561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ADEAC7-53BF-9B69-1D1B-0A24DDE7A87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86800" y="1196708"/>
            <a:ext cx="1481328" cy="8921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B3BA38-44AC-6EEC-879B-63E55B0C5C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55580" y="1190764"/>
            <a:ext cx="1770033" cy="81786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377861E-AC36-2D06-627A-2293E12302E4}"/>
              </a:ext>
            </a:extLst>
          </p:cNvPr>
          <p:cNvSpPr/>
          <p:nvPr/>
        </p:nvSpPr>
        <p:spPr>
          <a:xfrm>
            <a:off x="8823960" y="5605272"/>
            <a:ext cx="150876" cy="89154"/>
          </a:xfrm>
          <a:prstGeom prst="rect">
            <a:avLst/>
          </a:prstGeom>
          <a:solidFill>
            <a:srgbClr val="DEE8F0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EB0885-9432-108C-15D6-8A14202B54B1}"/>
              </a:ext>
            </a:extLst>
          </p:cNvPr>
          <p:cNvSpPr/>
          <p:nvPr/>
        </p:nvSpPr>
        <p:spPr>
          <a:xfrm>
            <a:off x="9620729" y="5604974"/>
            <a:ext cx="169164" cy="87166"/>
          </a:xfrm>
          <a:prstGeom prst="rect">
            <a:avLst/>
          </a:prstGeom>
          <a:solidFill>
            <a:srgbClr val="FBDBB5"/>
          </a:solidFill>
          <a:ln w="508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9BA4B4E-326A-DC44-B43F-B974454A056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6163" t="13750" r="16676" b="19750"/>
          <a:stretch>
            <a:fillRect/>
          </a:stretch>
        </p:blipFill>
        <p:spPr>
          <a:xfrm>
            <a:off x="2583182" y="4617721"/>
            <a:ext cx="1219199" cy="521208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0964F5-1622-82EB-0EE0-6F4731975756}"/>
              </a:ext>
            </a:extLst>
          </p:cNvPr>
          <p:cNvSpPr/>
          <p:nvPr/>
        </p:nvSpPr>
        <p:spPr>
          <a:xfrm>
            <a:off x="6573520" y="5234940"/>
            <a:ext cx="1021080" cy="2082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5097F66-7827-E8A7-9BC6-C0794503C674}"/>
              </a:ext>
            </a:extLst>
          </p:cNvPr>
          <p:cNvSpPr/>
          <p:nvPr/>
        </p:nvSpPr>
        <p:spPr>
          <a:xfrm>
            <a:off x="6582156" y="5523999"/>
            <a:ext cx="1021080" cy="11784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51FF07B-5540-1688-9491-D6D1D9211965}"/>
              </a:ext>
            </a:extLst>
          </p:cNvPr>
          <p:cNvSpPr/>
          <p:nvPr/>
        </p:nvSpPr>
        <p:spPr>
          <a:xfrm>
            <a:off x="4937760" y="5244595"/>
            <a:ext cx="749808" cy="11784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19A1C95-B4C4-ACE6-347D-C75461B0A7BF}"/>
              </a:ext>
            </a:extLst>
          </p:cNvPr>
          <p:cNvSpPr/>
          <p:nvPr/>
        </p:nvSpPr>
        <p:spPr>
          <a:xfrm>
            <a:off x="4846320" y="5443221"/>
            <a:ext cx="922020" cy="13054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626402-18E5-CB4D-8151-9B3CAE5D6C64}"/>
              </a:ext>
            </a:extLst>
          </p:cNvPr>
          <p:cNvSpPr txBox="1"/>
          <p:nvPr/>
        </p:nvSpPr>
        <p:spPr>
          <a:xfrm>
            <a:off x="8173494" y="3977639"/>
            <a:ext cx="513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Iteration</a:t>
            </a:r>
            <a:r>
              <a:rPr lang="en-US" sz="800" dirty="0"/>
              <a:t> </a:t>
            </a:r>
            <a:r>
              <a:rPr lang="en-US" sz="600" dirty="0"/>
              <a:t>1</a:t>
            </a:r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Iteration</a:t>
            </a:r>
            <a:r>
              <a:rPr lang="en-US" sz="800" dirty="0"/>
              <a:t> </a:t>
            </a:r>
            <a:r>
              <a:rPr lang="en-US" sz="600" dirty="0"/>
              <a:t>2</a:t>
            </a:r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Iteration</a:t>
            </a:r>
            <a:r>
              <a:rPr lang="en-US" sz="800" dirty="0"/>
              <a:t> </a:t>
            </a:r>
            <a:r>
              <a:rPr lang="en-US" sz="600" dirty="0"/>
              <a:t>3</a:t>
            </a:r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Iteration</a:t>
            </a:r>
            <a:r>
              <a:rPr lang="en-US" sz="800" dirty="0"/>
              <a:t> </a:t>
            </a:r>
            <a:r>
              <a:rPr lang="en-US" sz="600" dirty="0"/>
              <a:t>4</a:t>
            </a:r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Iteration</a:t>
            </a:r>
            <a:r>
              <a:rPr lang="en-US" sz="800" dirty="0"/>
              <a:t> </a:t>
            </a:r>
            <a:r>
              <a:rPr lang="en-US" sz="600" dirty="0"/>
              <a:t>5</a:t>
            </a: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12E022AC-C9F9-3ED4-C00D-8BBB499868C7}"/>
              </a:ext>
            </a:extLst>
          </p:cNvPr>
          <p:cNvSpPr/>
          <p:nvPr/>
        </p:nvSpPr>
        <p:spPr>
          <a:xfrm>
            <a:off x="3946061" y="1359816"/>
            <a:ext cx="228599" cy="26324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F848B69F-7E09-DF8D-3327-E951D3593C64}"/>
              </a:ext>
            </a:extLst>
          </p:cNvPr>
          <p:cNvSpPr/>
          <p:nvPr/>
        </p:nvSpPr>
        <p:spPr>
          <a:xfrm>
            <a:off x="8222059" y="1348740"/>
            <a:ext cx="228599" cy="26324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B0E9AB26-A78E-04FB-0AD4-8C85E02291FA}"/>
              </a:ext>
            </a:extLst>
          </p:cNvPr>
          <p:cNvSpPr/>
          <p:nvPr/>
        </p:nvSpPr>
        <p:spPr>
          <a:xfrm rot="11021300">
            <a:off x="7982876" y="4425222"/>
            <a:ext cx="148494" cy="21589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Arrow: Right 211">
            <a:extLst>
              <a:ext uri="{FF2B5EF4-FFF2-40B4-BE49-F238E27FC236}">
                <a16:creationId xmlns:a16="http://schemas.microsoft.com/office/drawing/2014/main" id="{5567D8CB-A2AF-915A-007F-CC9144D11EAA}"/>
              </a:ext>
            </a:extLst>
          </p:cNvPr>
          <p:cNvSpPr/>
          <p:nvPr/>
        </p:nvSpPr>
        <p:spPr>
          <a:xfrm rot="10800000">
            <a:off x="4069081" y="4425932"/>
            <a:ext cx="228599" cy="26324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Arrow: Right 214">
            <a:extLst>
              <a:ext uri="{FF2B5EF4-FFF2-40B4-BE49-F238E27FC236}">
                <a16:creationId xmlns:a16="http://schemas.microsoft.com/office/drawing/2014/main" id="{89E541ED-4C9D-CDCA-CD9E-D8FDECCB0258}"/>
              </a:ext>
            </a:extLst>
          </p:cNvPr>
          <p:cNvSpPr/>
          <p:nvPr/>
        </p:nvSpPr>
        <p:spPr>
          <a:xfrm rot="5400000">
            <a:off x="10332721" y="2971800"/>
            <a:ext cx="228599" cy="26324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512</Words>
  <Application>Microsoft Office PowerPoint</Application>
  <PresentationFormat>Custom</PresentationFormat>
  <Paragraphs>99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Mehedi Hassan</dc:creator>
  <cp:keywords/>
  <dc:description>generated using python-pptx</dc:description>
  <cp:lastModifiedBy>Mehedi Hassan</cp:lastModifiedBy>
  <cp:revision>4</cp:revision>
  <dcterms:created xsi:type="dcterms:W3CDTF">2013-01-27T09:14:16Z</dcterms:created>
  <dcterms:modified xsi:type="dcterms:W3CDTF">2026-08-21T18:28:06Z</dcterms:modified>
  <cp:category/>
</cp:coreProperties>
</file>